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1F5F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Apr 27</c:v>
                  </c:pt>
                  <c:pt idx="1">
                    <c:v>May 4</c:v>
                  </c:pt>
                  <c:pt idx="2">
                    <c:v>May 11</c:v>
                  </c:pt>
                  <c:pt idx="3">
                    <c:v>May 18</c:v>
                  </c:pt>
                  <c:pt idx="4">
                    <c:v>May 25</c:v>
                  </c:pt>
                  <c:pt idx="5">
                    <c:v>Jun 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319</c:v>
                </c:pt>
                <c:pt idx="1">
                  <c:v>150</c:v>
                </c:pt>
                <c:pt idx="2">
                  <c:v>2</c:v>
                </c:pt>
                <c:pt idx="3">
                  <c:v>119</c:v>
                </c:pt>
                <c:pt idx="4">
                  <c:v>29</c:v>
                </c:pt>
                <c:pt idx="5">
                  <c:v>453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1F5F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336"/>
        </a:solidFill>
        <a:ln>
          <a:noFill/>
        </a:ln>
        <a:effectLst/>
      </c:spPr>
    </c:plotArea>
    <c:plotVisOnly val="1"/>
    <c:dispBlanksAs val="span"/>
  </c:chart>
  <c:spPr>
    <a:solidFill>
      <a:srgbClr val="1A23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IDD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BF"/>
              </a:solidFill>
              <a:effectLst/>
            </c:spPr>
          </c:dPt>
          <c:dPt>
            <c:idx val="1"/>
            <c:bubble3D val="0"/>
            <c:spPr>
              <a:solidFill>
                <a:srgbClr val="26324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Loadable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1A23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52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LOC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52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LOC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INFRA</c:v>
                </c:pt>
              </c:strCache>
            </c:strRef>
          </c:tx>
          <c:spPr>
            <a:solidFill>
              <a:srgbClr val="2632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52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LOC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E152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majorGridlines>
          <c:spPr>
            <a:ln w="6350" cap="flat">
              <a:solidFill>
                <a:srgbClr val="26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33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33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IDFs</c:v>
                </c:pt>
              </c:strCache>
            </c:strRef>
          </c:tx>
          <c:spPr>
            <a:solidFill>
              <a:srgbClr val="FBBF24"/>
            </a:solidFill>
            <a:ln w="38100" cap="flat">
              <a:solidFill>
                <a:srgbClr val="FBBF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BBF24"/>
              </a:solidFill>
              <a:ln w="9525" cap="flat">
                <a:solidFill>
                  <a:srgbClr val="FBBF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start</c:v>
                  </c:pt>
                  <c:pt idx="1">
                    <c:v>May 19</c:v>
                  </c:pt>
                  <c:pt idx="2">
                    <c:v>now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607</c:v>
                </c:pt>
                <c:pt idx="2">
                  <c:v>613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336"/>
        </a:solidFill>
        <a:ln>
          <a:noFill/>
        </a:ln>
        <a:effectLst/>
      </c:spPr>
    </c:plotArea>
    <c:plotVisOnly val="1"/>
    <c:dispBlanksAs val="span"/>
  </c:chart>
  <c:spPr>
    <a:solidFill>
      <a:srgbClr val="1A2336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1F5F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1 setup</c:v>
                  </c:pt>
                  <c:pt idx="1">
                    <c:v>GS solve</c:v>
                  </c:pt>
                  <c:pt idx="2">
                    <c:v>Phase 3 advance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</c:v>
                </c:pt>
                <c:pt idx="1">
                  <c:v>4.7</c:v>
                </c:pt>
                <c:pt idx="2">
                  <c:v>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1F5F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336"/>
        </a:solidFill>
        <a:ln>
          <a:noFill/>
        </a:ln>
        <a:effectLst/>
      </c:spPr>
    </c:plotArea>
    <c:plotVisOnly val="1"/>
    <c:dispBlanksAs val="span"/>
  </c:chart>
  <c:spPr>
    <a:solidFill>
      <a:srgbClr val="1A2336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1F5F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Rust</c:v>
                  </c:pt>
                  <c:pt idx="1">
                    <c:v>Go</c:v>
                  </c:pt>
                  <c:pt idx="2">
                    <c:v>Mojo</c:v>
                  </c:pt>
                  <c:pt idx="3">
                    <c:v>Python</c:v>
                  </c:pt>
                  <c:pt idx="4">
                    <c:v>Fortran</c:v>
                  </c:pt>
                  <c:pt idx="5">
                    <c:v>C</c:v>
                  </c:pt>
                  <c:pt idx="6">
                    <c:v>Zig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18</c:v>
                </c:pt>
                <c:pt idx="5">
                  <c:v>17</c:v>
                </c:pt>
                <c:pt idx="6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1F5F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1"/>
        <c:axPos val="b"/>
        <c:majorGridlines>
          <c:spPr>
            <a:ln w="6350" cap="flat">
              <a:solidFill>
                <a:srgbClr val="26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336"/>
        </a:solidFill>
        <a:ln>
          <a:noFill/>
        </a:ln>
        <a:effectLst/>
      </c:spPr>
    </c:plotArea>
    <c:plotVisOnly val="1"/>
    <c:dispBlanksAs val="span"/>
  </c:chart>
  <c:spPr>
    <a:solidFill>
      <a:srgbClr val="1A2336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1F5F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JavaScript</c:v>
                  </c:pt>
                  <c:pt idx="1">
                    <c:v>C++</c:v>
                  </c:pt>
                  <c:pt idx="2">
                    <c:v>Python</c:v>
                  </c:pt>
                  <c:pt idx="3">
                    <c:v>Java</c:v>
                  </c:pt>
                  <c:pt idx="4">
                    <c:v>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46</c:v>
                </c:pt>
                <c:pt idx="2">
                  <c:v>56</c:v>
                </c:pt>
                <c:pt idx="3">
                  <c:v>36</c:v>
                </c:pt>
                <c:pt idx="4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1F5F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majorGridlines>
          <c:spPr>
            <a:ln w="6350" cap="flat">
              <a:solidFill>
                <a:srgbClr val="26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336"/>
        </a:solidFill>
        <a:ln>
          <a:noFill/>
        </a:ln>
        <a:effectLst/>
      </c:spPr>
    </c:plotArea>
    <c:plotVisOnly val="1"/>
    <c:dispBlanksAs val="span"/>
  </c:chart>
  <c:spPr>
    <a:solidFill>
      <a:srgbClr val="1A2336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May 11</c:v>
                  </c:pt>
                  <c:pt idx="1">
                    <c:v>May 18</c:v>
                  </c:pt>
                  <c:pt idx="2">
                    <c:v>May 25</c:v>
                  </c:pt>
                  <c:pt idx="3">
                    <c:v>Jun 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38</c:v>
                </c:pt>
                <c:pt idx="2">
                  <c:v>38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2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336"/>
        </a:solidFill>
        <a:ln>
          <a:noFill/>
        </a:ln>
        <a:effectLst/>
      </c:spPr>
    </c:plotArea>
    <c:plotVisOnly val="1"/>
    <c:dispBlanksAs val="span"/>
  </c:chart>
  <c:spPr>
    <a:solidFill>
      <a:srgbClr val="1A23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233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 REPORT  ·  APR 27 – JUN 4,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EnergyPlus </a:t>
            </a:r>
            <a:pPr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Mojo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a universal </a:t>
            </a:r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source-to-source transpiler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Porting a 1M-line building-physics engine to fast Mojo — and building the hybrid algorithmic + LLM transpiler that feeds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88920" cy="502920"/>
          </a:xfrm>
          <a:prstGeom prst="roundRect">
            <a:avLst>
              <a:gd name="adj" fmla="val 49091"/>
            </a:avLst>
          </a:prstGeom>
          <a:solidFill>
            <a:srgbClr val="222E4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0" y="4892040"/>
            <a:ext cx="2788920" cy="502920"/>
          </a:xfrm>
          <a:prstGeom prst="roundRect">
            <a:avLst>
              <a:gd name="adj" fmla="val 49091"/>
            </a:avLst>
          </a:prstGeom>
          <a:solidFill>
            <a:srgbClr val="222E4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892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transpilers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4892040"/>
            <a:ext cx="2788920" cy="502920"/>
          </a:xfrm>
          <a:prstGeom prst="roundRect">
            <a:avLst>
              <a:gd name="adj" fmla="val 49091"/>
            </a:avLst>
          </a:prstGeom>
          <a:solidFill>
            <a:srgbClr val="222E4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4892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days · 1,166 commits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repositories, one mission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1A23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1,072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51560" y="2670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energyplus-mojo commits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1A233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54880" y="2670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 kernels written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6002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1A23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58200" y="2670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EnergyPlus IDD types loadable (858/858)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1A233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160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051560" y="4910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IDFs (from 17 — a 35× growth)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38404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1A233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4160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→ 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754880" y="4910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transpiler source → target languages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83880" y="38404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1A2336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4160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2.4×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458200" y="4910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single-zone timestep speedup in Mojo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two repos connect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1A233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356616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transpilers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algorithmic + LLM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→ Python whole-repo lift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verified pipeline for kernels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 mechanical on EnergyPlus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3063240"/>
            <a:ext cx="914400" cy="640080"/>
          </a:xfrm>
          <a:prstGeom prst="rightArrow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lifts &amp; ports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920240"/>
            <a:ext cx="5760720" cy="2926080"/>
          </a:xfrm>
          <a:prstGeom prst="roundRect">
            <a:avLst>
              <a:gd name="adj" fmla="val 2500"/>
            </a:avLst>
          </a:prstGeom>
          <a:solidFill>
            <a:srgbClr val="1A2336"/>
          </a:solidFill>
          <a:ln/>
        </p:spPr>
      </p:sp>
      <p:sp>
        <p:nvSpPr>
          <p:cNvPr id="12" name="Shape 10"/>
          <p:cNvSpPr/>
          <p:nvPr/>
        </p:nvSpPr>
        <p:spPr>
          <a:xfrm>
            <a:off x="5623560" y="1920240"/>
            <a:ext cx="576072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2148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energyplus-mojo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26974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EnergyPlus (C++) → Python + Mojo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owns orchestration &amp; data models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 kernels do the heavy physics (CTF, solar, HVAC, psychro)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50% Mojo / 50% Python — Mojo does the lifting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IR pipeline turns 11 source languages into 7 targets — including the Mojo kernels powering the engine on the right.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mission: a 1M-line engine, reborn in Mojo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A23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EnergyPlus is the world's reference building-energy simulator — and a sprawling C++ codebase.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keeps Python's readability for the data model and orchestration, while Mojo delivers C-class speed for the per-timestep physics that runs millions of times a simulation.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A233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525"/>
                </a:solidFill>
              </a:rPr>
              <a:t>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1801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Breadth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1671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IDD object type loads — 100% (858/858)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A233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34747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525"/>
                </a:solidFill>
              </a:rPr>
              <a:t>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3264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36301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physics ported to Mojo kernels, parity-gated vs upstream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5262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A233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493776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525"/>
                </a:solidFill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727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50932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Batched/fused FFI kernels; profile-driven hot-path 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cadence — commits per week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3657600"/>
          </a:xfrm>
          <a:prstGeom prst="roundRect">
            <a:avLst>
              <a:gd name="adj" fmla="val 2000"/>
            </a:avLst>
          </a:prstGeom>
          <a:solidFill>
            <a:srgbClr val="1A2336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914400" y="1691640"/>
          <a:ext cx="10332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commits in the launch week (Apr 27) — a from-zero breadth sprint — then a sustained build-out, peaking again at 453 in the depth + performance push of early June.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Milestones on the timeline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48840" y="1691640"/>
            <a:ext cx="36576" cy="4434840"/>
          </a:xfrm>
          <a:prstGeom prst="rect">
            <a:avLst/>
          </a:prstGeom>
          <a:solidFill>
            <a:srgbClr val="263247"/>
          </a:solidFill>
          <a:ln/>
        </p:spPr>
      </p:sp>
      <p:sp>
        <p:nvSpPr>
          <p:cNvPr id="6" name="Shape 4"/>
          <p:cNvSpPr/>
          <p:nvPr/>
        </p:nvSpPr>
        <p:spPr>
          <a:xfrm>
            <a:off x="2029968" y="1700784"/>
            <a:ext cx="274320" cy="27432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0E15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27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62763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 launches — breadth sprint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514600" y="197510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From-zero port scaffolding; 106 commits in days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29968" y="2459736"/>
            <a:ext cx="274320" cy="27432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E15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04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6–7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3865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Meter-parity gate end-to-end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514600" y="2734056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Per-end-use tolerance parity vs upstream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29968" y="3218688"/>
            <a:ext cx="274320" cy="27432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0E15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63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18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14553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30-agent Mojo kernel batch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514600" y="34930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breadth port; AFN per-timestep reconnect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29968" y="3977640"/>
            <a:ext cx="274320" cy="274320"/>
          </a:xfrm>
          <a:prstGeom prst="ellipse">
            <a:avLst/>
          </a:prstGeom>
          <a:solidFill>
            <a:srgbClr val="FF8A3D"/>
          </a:solidFill>
          <a:ln w="25400">
            <a:solidFill>
              <a:srgbClr val="0E15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22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19–20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9044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Corpus 17 → 607 IDFs (35×)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514600" y="425196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PRs landed; oracle timing wired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29968" y="4736592"/>
            <a:ext cx="274320" cy="27432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E15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81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 1–2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46634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Phase-1 C++→Python lift; 100% IDD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2514600" y="501091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NOT_STARTED → 0; object coverage 84% → 100%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029968" y="5495544"/>
            <a:ext cx="274320" cy="27432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0E15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440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 3–4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14600" y="542239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Profile-driven performance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14600" y="576986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instrumentation; multi-zone batch slice 1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 progress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A233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IDD object coverage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68680" y="2103120"/>
          <a:ext cx="3337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31546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68680" y="5212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858 / 858 types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16002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A2336"/>
          </a:solidFill>
          <a:ln/>
        </p:spPr>
      </p:sp>
      <p:sp>
        <p:nvSpPr>
          <p:cNvPr id="11" name="Text 8"/>
          <p:cNvSpPr/>
          <p:nvPr/>
        </p:nvSpPr>
        <p:spPr>
          <a:xfrm>
            <a:off x="47091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by status (LOC-weighted)</a:t>
            </a:r>
            <a:endParaRPr lang="en-US" sz="14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617720" y="2148840"/>
          <a:ext cx="3337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4709160" y="5074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shifted from breadth → depth: promoting the 52% PARTIAL into runtime-physics COMPLETE.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75320" y="1600200"/>
            <a:ext cx="3108960" cy="4160520"/>
          </a:xfrm>
          <a:prstGeom prst="roundRect">
            <a:avLst>
              <a:gd name="adj" fmla="val 2353"/>
            </a:avLst>
          </a:prstGeom>
          <a:solidFill>
            <a:srgbClr val="1A2336"/>
          </a:solidFill>
          <a:ln/>
        </p:spPr>
      </p:sp>
      <p:sp>
        <p:nvSpPr>
          <p:cNvPr id="15" name="Text 11"/>
          <p:cNvSpPr/>
          <p:nvPr/>
        </p:nvSpPr>
        <p:spPr>
          <a:xfrm>
            <a:off x="84582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corpus</a:t>
            </a:r>
            <a:endParaRPr lang="en-US" sz="1400" dirty="0"/>
          </a:p>
        </p:txBody>
      </p:sp>
      <p:graphicFrame>
        <p:nvGraphicFramePr>
          <p:cNvPr id="16" name="Chart 2" descr=""/>
          <p:cNvGraphicFramePr/>
          <p:nvPr/>
        </p:nvGraphicFramePr>
        <p:xfrm>
          <a:off x="8366760" y="2148840"/>
          <a:ext cx="29260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/>
          <p:nvPr/>
        </p:nvSpPr>
        <p:spPr>
          <a:xfrm>
            <a:off x="8366760" y="4617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35×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8366760" y="5257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→ 613 test models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— Python orchestrates, Mojo computes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6766560" cy="1188720"/>
          </a:xfrm>
          <a:prstGeom prst="roundRect">
            <a:avLst>
              <a:gd name="adj" fmla="val 6154"/>
            </a:avLst>
          </a:prstGeom>
          <a:solidFill>
            <a:srgbClr val="1A233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91440" cy="1188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562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2585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· IDF/EPW parsing · run-period driver · outputs (ESO/MTR/SQL/tabular)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6766560" cy="1188720"/>
          </a:xfrm>
          <a:prstGeom prst="roundRect">
            <a:avLst>
              <a:gd name="adj" fmla="val 6154"/>
            </a:avLst>
          </a:prstGeom>
          <a:solidFill>
            <a:srgbClr val="222E4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063240"/>
            <a:ext cx="91440" cy="1188720"/>
          </a:xfrm>
          <a:prstGeom prst="rect">
            <a:avLst/>
          </a:prstGeom>
          <a:solidFill>
            <a:srgbClr val="26324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278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FFI boundary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6301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buffer addresses → UnsafePointer · batched array kernels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434840"/>
            <a:ext cx="6766560" cy="1188720"/>
          </a:xfrm>
          <a:prstGeom prst="roundRect">
            <a:avLst>
              <a:gd name="adj" fmla="val 6154"/>
            </a:avLst>
          </a:prstGeom>
          <a:solidFill>
            <a:srgbClr val="1A2336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434840"/>
            <a:ext cx="91440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5994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Mojo kernels (572)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50017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heat balance · solar · psychrometrics · HVAC · schedules · meters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812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A233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numbers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046720" y="2862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 kernels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046720" y="4005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the dependency graph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617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6,213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046720" y="5148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edges mapped (migraph)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— profile-driven, parity-gated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A23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2.4×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51560" y="2624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single-zone annual run, fused per-timestep Mojo step (#370/#462)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A233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977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8.6%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51560" y="4727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batch slice 1 on a large office (15.6s → 14.3s)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A2336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multi-zone wall-clock lives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309360" y="228600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kernel verified bit-identical vs the legacy path before it ships — measure, gate, then optimize.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TRANSPILERS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hybrid algorithmic + LLM transpiler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A233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engines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pipeline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HIR → MIR (typed) → LIR → target. Verified — refuses what it can't model. Best for kernels.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Never-refuse lift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whole-file C++ → Python 1:1 with TODO stubs for gaps. ~96% mechanical on EnergyPlus.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A2336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Three-tier IR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23317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22E4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317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0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source-faithful, preserves idioms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40880" y="3136392"/>
            <a:ext cx="274320" cy="256032"/>
          </a:xfrm>
          <a:prstGeom prst="downArrow">
            <a:avLst/>
          </a:prstGeom>
          <a:solidFill>
            <a:srgbClr val="26324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3410712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22E4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41071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46720" y="35753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normalized, typed, language-agnostic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40880" y="4215384"/>
            <a:ext cx="274320" cy="256032"/>
          </a:xfrm>
          <a:prstGeom prst="downArrow">
            <a:avLst/>
          </a:prstGeom>
          <a:solidFill>
            <a:srgbClr val="2632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4489704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22E4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48970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46720" y="4654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target-shaped per backend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TRANSPILERS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TRANSPILERS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source languages → 7 targets, verified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Frontends (11)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9202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46888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46888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46888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0175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30175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30175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356616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Basic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356616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A2336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Assembly*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526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Assembly staged via PyGhidra → C-like pseudocode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155448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1A2336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end-to-end → target (18 algorithms)</a:t>
            </a:r>
            <a:endParaRPr lang="en-US" sz="13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446520" y="2148840"/>
          <a:ext cx="48463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TRANSPILERS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TRANSPILERS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stress test &amp; why hybrid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669280" cy="4160520"/>
          </a:xfrm>
          <a:prstGeom prst="roundRect">
            <a:avLst>
              <a:gd name="adj" fmla="val 1758"/>
            </a:avLst>
          </a:prstGeom>
          <a:solidFill>
            <a:srgbClr val="1A233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corpus → Rust (transpile rate)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68680" y="219456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720840" y="160020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1A2336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hybrid wins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49440" y="228600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operate on typed holes, never free-form text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verified — parse, compile, behavioral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calls cached → reproducible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answers harden into algorithmic data over time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TRANSPILERS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TRANSPILERS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cadence — commits per week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3657600"/>
          </a:xfrm>
          <a:prstGeom prst="roundRect">
            <a:avLst>
              <a:gd name="adj" fmla="val 2000"/>
            </a:avLst>
          </a:prstGeom>
          <a:solidFill>
            <a:srgbClr val="1A2336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914400" y="1691640"/>
          <a:ext cx="10332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commits over four weeks — from first IR pass to an 11-frontend / 7-target pipeline verified end-to-end.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TRANSPILERS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road ahead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1A233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45920"/>
            <a:ext cx="347472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GS loop fusion (slice 2/3) — the 15.5s hot path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NuMojo Mojo-1.0 port: break the import-identity cycle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PARTIAL → COMPLETE for runtime-hot physics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1A2336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645920"/>
            <a:ext cx="347472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37744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Struct-of-arrays surface layout for batch-friendly kernels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Transpiler: dynamic-array growth (Zig ArrayList, C realloc)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corpus parity beyond single-zone fast paths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16459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1A2336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1645920"/>
            <a:ext cx="3474720" cy="1097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37744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 doing the full heavy lifting via NuMojo (NumPy-free)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→ high-level via PyGhidra frontend, hardened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Self-hosting: transpiler ports more of EnergyPlus itself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STATE OF PLAY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Breadth done. </a:t>
            </a:r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Depth &amp; speed next.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A233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IDD loadable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29260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A2336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0060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 kernels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29260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A2336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50392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verified to 7 targets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readable Python shell, a Mojo core that does the heavy lifting, and a transpiler that keeps feeding both.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energyplus-mojo  ·  transpilers  ·  Apr 27 – Jun 4,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EnergyPlus-Mojo &amp; Transpilers — Progress Report</dc:title>
  <dc:subject>PptxGenJS Presentation</dc:subject>
  <dc:creator>Tokarzewski</dc:creator>
  <cp:lastModifiedBy>Tokarzewski</cp:lastModifiedBy>
  <cp:revision>1</cp:revision>
  <dcterms:created xsi:type="dcterms:W3CDTF">2026-06-04T08:31:54Z</dcterms:created>
  <dcterms:modified xsi:type="dcterms:W3CDTF">2026-06-04T08:31:54Z</dcterms:modified>
</cp:coreProperties>
</file>